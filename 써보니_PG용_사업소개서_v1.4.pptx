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b2f88a35044398" /><Relationship Type="http://schemas.openxmlformats.org/officeDocument/2006/relationships/extended-properties" Target="/docProps/app.xml" Id="R017b94368bad4f32" /><Relationship Type="http://schemas.openxmlformats.org/officeDocument/2006/relationships/officeDocument" Target="/ppt/presentation.xml" Id="R38796870411a48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d6da2b90bd4f01"/>
  </p:sldMasterIdLst>
  <p:notesMasterIdLst>
    <p:notesMasterId xmlns:r="http://schemas.openxmlformats.org/officeDocument/2006/relationships" r:id="R479172ecbae3439f"/>
  </p:notesMasterIdLst>
  <p:sldIdLst>
    <p:sldId xmlns:r="http://schemas.openxmlformats.org/officeDocument/2006/relationships" id="256" r:id="R701273ee60484ce9"/>
    <p:sldId xmlns:r="http://schemas.openxmlformats.org/officeDocument/2006/relationships" id="257" r:id="Rc17fbd1499a347cb"/>
    <p:sldId xmlns:r="http://schemas.openxmlformats.org/officeDocument/2006/relationships" id="258" r:id="R8f46079ff21c4791"/>
    <p:sldId xmlns:r="http://schemas.openxmlformats.org/officeDocument/2006/relationships" id="259" r:id="R862f02ae77de4400"/>
    <p:sldId xmlns:r="http://schemas.openxmlformats.org/officeDocument/2006/relationships" id="260" r:id="R2910b50a2e0c421e"/>
    <p:sldId xmlns:r="http://schemas.openxmlformats.org/officeDocument/2006/relationships" id="261" r:id="Rabc72753830245a2"/>
    <p:sldId xmlns:r="http://schemas.openxmlformats.org/officeDocument/2006/relationships" id="262" r:id="R5fabd6f31612417e"/>
    <p:sldId xmlns:r="http://schemas.openxmlformats.org/officeDocument/2006/relationships" id="263" r:id="R569629d95bca4246"/>
    <p:sldId xmlns:r="http://schemas.openxmlformats.org/officeDocument/2006/relationships" id="264" r:id="Rd7badfc5bba34e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dcd565826e4565" /><Relationship Type="http://schemas.openxmlformats.org/officeDocument/2006/relationships/slideMaster" Target="/ppt/slideMasters/slideMaster1.xml" Id="Rfad6da2b90bd4f01" /><Relationship Type="http://schemas.openxmlformats.org/officeDocument/2006/relationships/notesMaster" Target="/ppt/notesMasters/notesMaster1.xml" Id="R479172ecbae3439f" /><Relationship Type="http://schemas.openxmlformats.org/officeDocument/2006/relationships/presProps" Target="/ppt/presProps.xml" Id="Rc1580999395b4f99" /><Relationship Type="http://schemas.openxmlformats.org/officeDocument/2006/relationships/tableStyles" Target="/ppt/tableStyles.xml" Id="R40dcd3eb62fa4c73" /><Relationship Type="http://schemas.openxmlformats.org/officeDocument/2006/relationships/slide" Target="/ppt/slides/slide1.xml" Id="R701273ee60484ce9" /><Relationship Type="http://schemas.openxmlformats.org/officeDocument/2006/relationships/slide" Target="/ppt/slides/slide2.xml" Id="Rc17fbd1499a347cb" /><Relationship Type="http://schemas.openxmlformats.org/officeDocument/2006/relationships/slide" Target="/ppt/slides/slide3.xml" Id="R8f46079ff21c4791" /><Relationship Type="http://schemas.openxmlformats.org/officeDocument/2006/relationships/slide" Target="/ppt/slides/slide4.xml" Id="R862f02ae77de4400" /><Relationship Type="http://schemas.openxmlformats.org/officeDocument/2006/relationships/slide" Target="/ppt/slides/slide5.xml" Id="R2910b50a2e0c421e" /><Relationship Type="http://schemas.openxmlformats.org/officeDocument/2006/relationships/slide" Target="/ppt/slides/slide6.xml" Id="Rabc72753830245a2" /><Relationship Type="http://schemas.openxmlformats.org/officeDocument/2006/relationships/slide" Target="/ppt/slides/slide7.xml" Id="R5fabd6f31612417e" /><Relationship Type="http://schemas.openxmlformats.org/officeDocument/2006/relationships/slide" Target="/ppt/slides/slide8.xml" Id="R569629d95bca4246" /><Relationship Type="http://schemas.openxmlformats.org/officeDocument/2006/relationships/slide" Target="/ppt/slides/slide9.xml" Id="Rd7badfc5bba34e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ef6f385d8e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536ebe919f4af7" /><Relationship Type="http://schemas.openxmlformats.org/officeDocument/2006/relationships/notesMaster" Target="/ppt/notesMasters/notesMaster1.xml" Id="R28d7a7d21a34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9fbf09b3554698" /><Relationship Type="http://schemas.openxmlformats.org/officeDocument/2006/relationships/notesMaster" Target="/ppt/notesMasters/notesMaster1.xml" Id="Rd521faa04f3f4e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2b126e5ce3478d" /><Relationship Type="http://schemas.openxmlformats.org/officeDocument/2006/relationships/notesMaster" Target="/ppt/notesMasters/notesMaster1.xml" Id="Rc923d920dfd341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276a6cded040ae" /><Relationship Type="http://schemas.openxmlformats.org/officeDocument/2006/relationships/notesMaster" Target="/ppt/notesMasters/notesMaster1.xml" Id="Rc214c295ba434f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37072325704d04" /><Relationship Type="http://schemas.openxmlformats.org/officeDocument/2006/relationships/notesMaster" Target="/ppt/notesMasters/notesMaster1.xml" Id="R0cbbd208ef3342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3306b1b1e84035" /><Relationship Type="http://schemas.openxmlformats.org/officeDocument/2006/relationships/notesMaster" Target="/ppt/notesMasters/notesMaster1.xml" Id="Rcadeeabb96cb48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225f483e76411b" /><Relationship Type="http://schemas.openxmlformats.org/officeDocument/2006/relationships/notesMaster" Target="/ppt/notesMasters/notesMaster1.xml" Id="R439f532900c048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c27b04af6b4f54" /><Relationship Type="http://schemas.openxmlformats.org/officeDocument/2006/relationships/notesMaster" Target="/ppt/notesMasters/notesMaster1.xml" Id="R27eb0a80c93c4e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9f498f7de44914" /><Relationship Type="http://schemas.openxmlformats.org/officeDocument/2006/relationships/notesMaster" Target="/ppt/notesMasters/notesMaster1.xml" Id="R2745b53c66b7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f22ee4e554c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d550ec986a4f8e" /><Relationship Type="http://schemas.openxmlformats.org/officeDocument/2006/relationships/slideLayout" Target="/ppt/slideLayouts/slideLayout1.xml" Id="R412e8729c15e4f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e8729c15e4f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938e5d7db4c6a" /><Relationship Type="http://schemas.openxmlformats.org/officeDocument/2006/relationships/image" Target="/ppt/media/image.png" Id="R343e8e6002be4cc8" /><Relationship Type="http://schemas.openxmlformats.org/officeDocument/2006/relationships/notesSlide" Target="/ppt/notesSlides/notesSlide1.xml" Id="R2fdb020b2daa43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d903a969c4dcb" /><Relationship Type="http://schemas.openxmlformats.org/officeDocument/2006/relationships/image" Target="/ppt/media/image2.png" Id="R16d559d846244ba1" /><Relationship Type="http://schemas.openxmlformats.org/officeDocument/2006/relationships/notesSlide" Target="/ppt/notesSlides/notesSlide2.xml" Id="R2b341919298e4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2cb615d524058" /><Relationship Type="http://schemas.openxmlformats.org/officeDocument/2006/relationships/image" Target="/ppt/media/image3.png" Id="R2aed9e39e4654bea" /><Relationship Type="http://schemas.openxmlformats.org/officeDocument/2006/relationships/notesSlide" Target="/ppt/notesSlides/notesSlide3.xml" Id="R3bd29c9be71e4d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b40552e5b409d" /><Relationship Type="http://schemas.openxmlformats.org/officeDocument/2006/relationships/image" Target="/ppt/media/image4.png" Id="R4cbd8ca1e4e64ca5" /><Relationship Type="http://schemas.openxmlformats.org/officeDocument/2006/relationships/notesSlide" Target="/ppt/notesSlides/notesSlide4.xml" Id="R9240156b85104f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a549a20904d26" /><Relationship Type="http://schemas.openxmlformats.org/officeDocument/2006/relationships/image" Target="/ppt/media/image5.png" Id="R105db003c93b4f68" /><Relationship Type="http://schemas.openxmlformats.org/officeDocument/2006/relationships/notesSlide" Target="/ppt/notesSlides/notesSlide5.xml" Id="Ra4e2dcfc208b4d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90978fb854bd5" /><Relationship Type="http://schemas.openxmlformats.org/officeDocument/2006/relationships/image" Target="/ppt/media/image6.png" Id="R5d9a2657554b4a76" /><Relationship Type="http://schemas.openxmlformats.org/officeDocument/2006/relationships/notesSlide" Target="/ppt/notesSlides/notesSlide6.xml" Id="R83607951b72341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f5faedd13442e" /><Relationship Type="http://schemas.openxmlformats.org/officeDocument/2006/relationships/image" Target="/ppt/media/image7.png" Id="R0abf77d9833447c1" /><Relationship Type="http://schemas.openxmlformats.org/officeDocument/2006/relationships/notesSlide" Target="/ppt/notesSlides/notesSlide7.xml" Id="R1322beba50f346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88832398f4065" /><Relationship Type="http://schemas.openxmlformats.org/officeDocument/2006/relationships/image" Target="/ppt/media/image8.png" Id="Rb4415adea6ae4158" /><Relationship Type="http://schemas.openxmlformats.org/officeDocument/2006/relationships/notesSlide" Target="/ppt/notesSlides/notesSlide8.xml" Id="R7480132c303b45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888ba63114997" /><Relationship Type="http://schemas.openxmlformats.org/officeDocument/2006/relationships/image" Target="/ppt/media/image9.png" Id="R713a9c929d01489e" /><Relationship Type="http://schemas.openxmlformats.org/officeDocument/2006/relationships/notesSlide" Target="/ppt/notesSlides/notesSlide9.xml" Id="R8a0491c758214d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e8e6002be4cc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E3FE5-0192-4A97-A150-ED08C5B6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E6B0"/>
                </a:solidFill>
              </a:defRPr>
            </a:pPr>
            <a:r>
              <a:rPr sz="900" b="1">
                <a:solidFill>
                  <a:srgbClr val="39E6B0"/>
                </a:solidFill>
              </a:rPr>
              <a:t>PG · 에스크로 사전 검토용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A6E6F-E1D8-4520-AB2F-42B883A1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써보니 | 써보고 결정하는 중고거래 플랫폼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0C92D-D500-4EC7-ADC4-E8E76E51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SSEOBONI · PG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76EF2-DA27-4FED-B090-70F68A56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FFB5D-2D07-48DF-AD2D-DA8B2369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E6B0"/>
                </a:solidFill>
              </a:defRPr>
            </a:pPr>
            <a:r>
              <a:rPr sz="1500" b="1">
                <a:solidFill>
                  <a:srgbClr val="39E6B0"/>
                </a:solidFill>
              </a:rPr>
              <a:t>SSEOBONI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025A9-4726-454A-808F-46C7CA4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1CCDB"/>
                </a:solidFill>
              </a:defRPr>
            </a:pPr>
            <a:r>
              <a:rPr sz="1350" b="0">
                <a:solidFill>
                  <a:srgbClr val="C1CCDB"/>
                </a:solidFill>
              </a:rPr>
              <a:t>Try it. Then decide.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9162B-9C29-487F-9CE2-FCA6D931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E8F3"/>
                </a:solidFill>
              </a:defRPr>
            </a:pPr>
            <a:r>
              <a:rPr sz="1200" b="1">
                <a:solidFill>
                  <a:srgbClr val="E0E8F3"/>
                </a:solidFill>
              </a:rPr>
              <a:t>핵심기능 중심 사업소개</a:t>
            </a:r>
          </a:p>
        </p:txBody>
      </p:sp>
    </p:spTree>
    <p:extLst>
      <p:ext uri="{BB962C8B-B14F-4D97-AF65-F5344CB8AC3E}">
        <p14:creationId xmlns:p14="http://schemas.microsoft.com/office/powerpoint/2010/main" val="5006515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559d846244b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8E4A-2918-4921-92FD-EACF2CE6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E6B0"/>
                </a:solidFill>
              </a:defRPr>
            </a:pPr>
            <a:r>
              <a:rPr sz="900" b="1">
                <a:solidFill>
                  <a:srgbClr val="39E6B0"/>
                </a:solidFill>
              </a:rPr>
              <a:t>WHY THIS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D2CDE-CD33-4F1A-88FC-B156FF7F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구매 전 불확실성이 중고거래를 막습니다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8B729-1D66-4038-8FDA-23001A92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SSEOBONI · PG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9AC45-0E49-4FE8-987D-03BF7DDE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E5723-8A96-47D3-B60B-DBC6889E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1CCDB"/>
                </a:solidFill>
              </a:defRPr>
            </a:pPr>
            <a:r>
              <a:rPr sz="1275" b="0">
                <a:solidFill>
                  <a:srgbClr val="C1CCDB"/>
                </a:solidFill>
              </a:rPr>
              <a:t>체험 수요는 있지만 안전하게 운영할 거래 인프라가 필요합니다.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8933B-10FF-49B2-8675-D8C1A5D4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A6318-6F30-4827-84B4-DB78295B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5C2D3-A491-4D1E-8E18-2BA2A851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526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구매자 · 실제 사용 전에는 적합성을 판단하기 어렵습니다.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1421C-9E8D-4AA4-B72F-6A8716AD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9E6B0"/>
          </a:solidFill>
          <a:ln xmlns:a="http://schemas.openxmlformats.org/drawingml/2006/main" w="9525">
            <a:solidFill>
              <a:srgbClr val="39E6B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1F824-2FA3-4938-93AE-7A0C4F88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DC4B2-2F5C-4D21-A4DD-13AB0D9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F"/>
                </a:solidFill>
              </a:defRPr>
            </a:pPr>
            <a:r>
              <a:rPr sz="1200" b="1">
                <a:solidFill>
                  <a:srgbClr val="07152F"/>
                </a:solidFill>
              </a:rPr>
              <a:t>판매자 · 재고 지연과 반환 분쟁 때문에 체험 제공이 어렵습니다.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DEB70-656D-4CD7-B789-4CBA9454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AE2F3-2330-4D73-8549-E1CFB883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D1B06-FAE5-40CC-A3F0-B95FE9DF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575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플랫폼 · 결제·배송·상태·환불 근거를 하나로 연결해야 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4648E-4773-4C1F-8E15-F8CEDDF6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E8F3"/>
                </a:solidFill>
              </a:defRPr>
            </a:pPr>
            <a:r>
              <a:rPr sz="1200" b="1">
                <a:solidFill>
                  <a:srgbClr val="E0E8F3"/>
                </a:solidFill>
              </a:rPr>
              <a:t>해법 · 체험 선택권 + 정산보호 + 상태증거 + 명확한 환불</a:t>
            </a:r>
          </a:p>
        </p:txBody>
      </p:sp>
    </p:spTree>
    <p:extLst>
      <p:ext uri="{BB962C8B-B14F-4D97-AF65-F5344CB8AC3E}">
        <p14:creationId xmlns:p14="http://schemas.microsoft.com/office/powerpoint/2010/main" val="13614830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d9e39e4654b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6C796-F5A9-466F-A0DC-D847201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E6B0"/>
                </a:solidFill>
              </a:defRPr>
            </a:pPr>
            <a:r>
              <a:rPr sz="900" b="1">
                <a:solidFill>
                  <a:srgbClr val="39E6B0"/>
                </a:solidFill>
              </a:rPr>
              <a:t>CORE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CEB39-D30F-426F-8156-77C05116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바로 구매는 유지하고 고민 상품만 써봅니다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0FEDD-69B3-43DB-BC75-5F981CE6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SSEOBONI · PG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71AAC-95AC-4057-A922-8E29DA31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D96D6-4688-464C-AFC2-5A9E9F9F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1CCDB"/>
                </a:solidFill>
              </a:defRPr>
            </a:pPr>
            <a:r>
              <a:rPr sz="1275" b="0">
                <a:solidFill>
                  <a:srgbClr val="C1CCDB"/>
                </a:solidFill>
              </a:rPr>
              <a:t>판매자가 허용한 상품에만 제한된 체험과 명시적 선택을 제공합니다.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9AFD2-4CC5-428C-B065-FB68D6E5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9E6B0"/>
          </a:solidFill>
          <a:ln xmlns:a="http://schemas.openxmlformats.org/drawingml/2006/main" w="9525">
            <a:solidFill>
              <a:srgbClr val="39E6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1EDAE-E086-4917-9CF9-284F7A46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DD280-991C-41BB-A68C-0FB42142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145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F"/>
                </a:solidFill>
              </a:defRPr>
            </a:pPr>
            <a:r>
              <a:rPr sz="1200" b="1">
                <a:solidFill>
                  <a:srgbClr val="07152F"/>
                </a:solidFill>
              </a:rPr>
              <a:t>01 · 일반 중고거래는 바로 구매가 기본입니다.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857F0-3BB9-4E54-AE07-99E4BE5F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C109D-AB14-410A-A85F-0A443BCA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CA496-5588-4F5B-95EE-E504783F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289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 · 판매자가 써보기 허용 상품을 선택합니다.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A98D2-4164-4D39-AF71-AE0522F8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4C96B-5331-4697-916F-AB36EB9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3CBCD-4A25-41E7-B4AC-509EDBF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 · 수령 후 정해진 기간에만 체험합니다.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7A5E6-7F18-4BFA-A6CC-4E676BE2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59FA6-00D7-49F0-A767-907771AA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6382D-0401-46A2-A578-7E6857EE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 · 구매 또는 정상반환을 명시적으로 선택합니다.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69F4D-9527-4A17-812C-996795E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283D9-30D9-4F29-B9F0-78D279FC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6A6EB-DB88-4005-B898-9B69E8F7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719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05 · 상태·배송·분쟁 기록을 증거로 연결합니다.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B910C-3004-4E4D-A5C5-92E733EA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E8F3"/>
                </a:solidFill>
              </a:defRPr>
            </a:pPr>
            <a:r>
              <a:rPr sz="1200" b="1">
                <a:solidFill>
                  <a:srgbClr val="E0E8F3"/>
                </a:solidFill>
              </a:rPr>
              <a:t>정상반환은 실패가 아니라 구매자의 명시적 결정입니다.</a:t>
            </a:r>
          </a:p>
        </p:txBody>
      </p:sp>
    </p:spTree>
    <p:extLst>
      <p:ext uri="{BB962C8B-B14F-4D97-AF65-F5344CB8AC3E}">
        <p14:creationId xmlns:p14="http://schemas.microsoft.com/office/powerpoint/2010/main" val="662900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d8ca1e4e64c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E51FA-3375-441A-B928-B82747E6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E6B0"/>
                </a:solidFill>
              </a:defRPr>
            </a:pPr>
            <a:r>
              <a:rPr sz="900" b="1">
                <a:solidFill>
                  <a:srgbClr val="39E6B0"/>
                </a:solidFill>
              </a:rPr>
              <a:t>TRANSACTION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CE300-50B4-45D9-9993-BEF933FF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결제는 보류되고 결정에 따라 정산됩니다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6C5B0-5C89-461C-B1EB-54F6B6A3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SSEOBONI · PG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FD06E-E6A6-40F4-8BE6-1E0F97A6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25262-BE6B-4ACD-90CD-4349661A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1CCDB"/>
                </a:solidFill>
              </a:defRPr>
            </a:pPr>
            <a:r>
              <a:rPr sz="1275" b="0">
                <a:solidFill>
                  <a:srgbClr val="C1CCDB"/>
                </a:solidFill>
              </a:rPr>
              <a:t>실제 지원 범위는 PG사와 공동 검토할 희망 거래 구조입니다.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B6408-7289-43F3-A346-179FA101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2EBF6-6B72-4DE8-8F9F-7AE440D0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0EBEE-16DD-4B99-A6C9-0E743AB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526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 전액 결제  →  02 정산 보류  →  03 판매자 발송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BAC4E-4A64-4289-B3EB-E80825BC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9E6B0"/>
          </a:solidFill>
          <a:ln xmlns:a="http://schemas.openxmlformats.org/drawingml/2006/main" w="9525">
            <a:solidFill>
              <a:srgbClr val="39E6B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DDC55-4C0E-43E2-AF89-0FF8F189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15B20-A13D-474E-9D3C-1A94191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F"/>
                </a:solidFill>
              </a:defRPr>
            </a:pPr>
            <a:r>
              <a:rPr sz="1200" b="1">
                <a:solidFill>
                  <a:srgbClr val="07152F"/>
                </a:solidFill>
              </a:rPr>
              <a:t>04 구매자 수령  →  05 48/72시간 체험  →  06 구매 또는 반환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E62F6-C0F5-4AC8-9720-8AD060A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E8F3"/>
                </a:solidFill>
              </a:defRPr>
            </a:pPr>
            <a:r>
              <a:rPr sz="1200" b="1">
                <a:solidFill>
                  <a:srgbClr val="E0E8F3"/>
                </a:solidFill>
              </a:rPr>
              <a:t>구매확정 → 판매자 정산  |  정상반환 → 회수·검수 후 환불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F6899-331C-4A22-9499-328CB76A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E6B0"/>
                </a:solidFill>
              </a:defRPr>
            </a:pPr>
            <a:r>
              <a:rPr sz="1200" b="1">
                <a:solidFill>
                  <a:srgbClr val="39E6B0"/>
                </a:solidFill>
              </a:rPr>
              <a:t>분쟁 시 관련 금액만 보류하고 증거 기반으로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14802427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db003c93b4f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DAB4B-1350-4826-8AB5-B1610374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E6B0"/>
                </a:solidFill>
              </a:defRPr>
            </a:pPr>
            <a:r>
              <a:rPr sz="900" b="1">
                <a:solidFill>
                  <a:srgbClr val="39E6B0"/>
                </a:solidFill>
              </a:rPr>
              <a:t>MONEY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1A98D-14E6-468A-8342-5715C69A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하나의 결제에서 세 가지 결과를 처리합니다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4DF65-F5DE-4487-8179-A2D8BC9F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SSEOBONI · PG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DC57B-5290-49CD-B1A1-0EB0CB51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34377-ACF1-44F7-A134-78ED43CE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1CCDB"/>
                </a:solidFill>
              </a:defRPr>
            </a:pPr>
            <a:r>
              <a:rPr sz="1275" b="0">
                <a:solidFill>
                  <a:srgbClr val="C1CCDB"/>
                </a:solidFill>
              </a:rPr>
              <a:t>고객자금은 계약된 PG·에스크로 구조 안에서 처리하는 방안을 검토합니다.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D8569-E722-4672-B787-DC982148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9E6B0"/>
          </a:solidFill>
          <a:ln xmlns:a="http://schemas.openxmlformats.org/drawingml/2006/main" w="9525">
            <a:solidFill>
              <a:srgbClr val="39E6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31208-BF7E-4710-9843-5902C5F7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85732-803D-45CE-9954-27132201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526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F"/>
                </a:solidFill>
              </a:defRPr>
            </a:pPr>
            <a:r>
              <a:rPr sz="1200" b="1">
                <a:solidFill>
                  <a:srgbClr val="07152F"/>
                </a:solidFill>
              </a:rPr>
              <a:t>구매 · 구매확정 → 상품대금 정산 → 판매자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05993-3961-46D9-A206-4F141C7B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83075-CE20-4969-AE2D-FF143C9F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518C6-CB02-43B0-8CE8-25E846E1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정상반환 · 회수·검수 → 승인 비용 반영 → 환불·보상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ABBAD-C451-4767-9995-34A4CB85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5105F-8885-4DDC-8B45-26449CBB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360B6-ADF3-4D50-BDB4-79435425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56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분쟁 · 관련 금액 보류 → 증거 확인 → 결정 후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EAA71-4746-4FE1-954F-66D931A5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E8F3"/>
                </a:solidFill>
              </a:defRPr>
            </a:pPr>
            <a:r>
              <a:rPr sz="1200" b="1">
                <a:solidFill>
                  <a:srgbClr val="E0E8F3"/>
                </a:solidFill>
              </a:rPr>
              <a:t>확인 필요 · 부분환불 · 옵션비 분리 · 분할정산 · 보류기간</a:t>
            </a:r>
          </a:p>
        </p:txBody>
      </p:sp>
    </p:spTree>
    <p:extLst>
      <p:ext uri="{BB962C8B-B14F-4D97-AF65-F5344CB8AC3E}">
        <p14:creationId xmlns:p14="http://schemas.microsoft.com/office/powerpoint/2010/main" val="777906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a2657554b4a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033C1-6E4E-4C41-98FD-C0B67C1F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E6B0"/>
                </a:solidFill>
              </a:defRPr>
            </a:pPr>
            <a:r>
              <a:rPr sz="900" b="1">
                <a:solidFill>
                  <a:srgbClr val="39E6B0"/>
                </a:solidFill>
              </a:rPr>
              <a:t>CONTROL &amp;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ED8CA-10DD-46C5-A042-59DE5135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상태와 자금의 모든 변화를 추적합니다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D48FA-33FD-4F10-88F0-1D4041F6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SSEOBONI · PG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1A924-D0DF-44AC-8948-5EF14E63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D3131-2EA7-4EA7-8175-7F3788C1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1CCDB"/>
                </a:solidFill>
              </a:defRPr>
            </a:pPr>
            <a:r>
              <a:rPr sz="1275" b="0">
                <a:solidFill>
                  <a:srgbClr val="C1CCDB"/>
                </a:solidFill>
              </a:rPr>
              <a:t>구매자·판매자·PG가 같은 사실을 확인하도록 시점별 증거를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0C1E4-DF60-460D-A501-BD328D6B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9E6B0"/>
          </a:solidFill>
          <a:ln xmlns:a="http://schemas.openxmlformats.org/drawingml/2006/main" w="9525">
            <a:solidFill>
              <a:srgbClr val="39E6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34702-1615-4392-A052-F6838AD2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782D7-4EF2-4D0E-90E2-FE1CB5E3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145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F"/>
                </a:solidFill>
              </a:defRPr>
            </a:pPr>
            <a:r>
              <a:rPr sz="1200" b="1">
                <a:solidFill>
                  <a:srgbClr val="07152F"/>
                </a:solidFill>
              </a:rPr>
              <a:t>판매 전 상태·하자·구성품을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22356-C770-4439-8CF8-068E38A1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758D0-0B4E-41C9-BC0B-6FB51947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AFCF0-1950-4EAB-ABD8-FCFCB6EE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289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배송·수령·체험기간의 시각을 기록합니다.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1056B-867B-4300-9214-93EAB86C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6E777-B351-4AC1-9693-C349BEAE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692F8-FB80-4EF0-BD06-E495F107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구매·반환 의사를 명시적으로 기록합니다.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2D7D7-1190-4837-AA31-350A6141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4EF91-2BC5-4E2C-AA3A-54E66E5D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F61B3-FC23-44E0-BB0A-24F351FC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반환 전후 상태와 검수 근거를 기록합니다.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E6116-075E-40B3-BCF6-114F23A0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3F7AE-A29F-4C51-9765-3A0DC96C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57C23-1F0C-45F2-8E12-1D3AD7F9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719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환불·정산·관리자 조치를 Audit Log로 남깁니다.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5D928-30E6-45EA-9853-7612DBFC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E8F3"/>
                </a:solidFill>
              </a:defRPr>
            </a:pPr>
            <a:r>
              <a:rPr sz="1200" b="1">
                <a:solidFill>
                  <a:srgbClr val="E0E8F3"/>
                </a:solidFill>
              </a:rPr>
              <a:t>원칙 · 미고지 하자 / 구매자 손상 / 배송사고를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8808488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f77d9833447c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EE6F5-BDD1-4B62-BE6C-D1DFAAEC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E6B0"/>
                </a:solidFill>
              </a:defRPr>
            </a:pPr>
            <a:r>
              <a:rPr sz="900" b="1">
                <a:solidFill>
                  <a:srgbClr val="39E6B0"/>
                </a:solidFill>
              </a:rPr>
              <a:t>PG CAPABILITY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FFBA0-6F16-4106-8F0F-9B4A6F6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써보니가 확인해야 할 PG 기능입니다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2CA7F-EF08-4061-912E-761FAFBB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SSEOBONI · PG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C830A-B908-4C4A-A315-5F1E8B3F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1B4D2-DBFD-4F91-A56E-C55EBEEF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1CCDB"/>
                </a:solidFill>
              </a:defRPr>
            </a:pPr>
            <a:r>
              <a:rPr sz="1275" b="0">
                <a:solidFill>
                  <a:srgbClr val="C1CCDB"/>
                </a:solidFill>
              </a:rPr>
              <a:t>결제수단별 제약·계약조건·테스트 범위까지 서면 확인이 필요합니다.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3E7C4-6AD3-4215-88F3-D72FC107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9E6B0"/>
          </a:solidFill>
          <a:ln xmlns:a="http://schemas.openxmlformats.org/drawingml/2006/main" w="9525">
            <a:solidFill>
              <a:srgbClr val="39E6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6DC7D-3733-4ADF-AD0B-BB8BDEAE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9AFBA-F7FA-4303-AAFF-894CFB43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145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F"/>
                </a:solidFill>
              </a:defRPr>
            </a:pPr>
            <a:r>
              <a:rPr sz="1200" b="1">
                <a:solidFill>
                  <a:srgbClr val="07152F"/>
                </a:solidFill>
              </a:rPr>
              <a:t>C2C·중고거래 플랫폼 가맹 및 에스크로 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8A868-EE68-48DB-A5D3-7D5341A3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F4628-F247-4CF1-A534-DF144651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A58AA-EBAC-45E1-B0E8-D6D6FEB9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289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체험·반환·검수기간 정산보류 및 보류 해제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B39B5-DC88-4597-80D0-ADF86B1B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9B6E5-E89F-4935-A692-B404DB53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C0FB0-ECA9-4EAF-9CD8-827C9196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구매확정 전 전체·부분환불 및 옵션비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7C86C-59F8-4EC9-85B0-D6F7244D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D3729-7F4E-46E7-B528-D2027A2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02A8C-D1D6-4C24-890F-B8F882F3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복수 수취인 분할정산 및 분쟁금액 보류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E4623-5208-42C7-A9F7-3FB61760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97816-EFB2-4FD1-9B33-810AB430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4DB8D-8515-4EFB-9D3D-A992A948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719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API·웹훅·테스트 환경과 결제수단별 제약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22971-163B-4557-B397-A0DD3EDB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E8F3"/>
                </a:solidFill>
              </a:defRPr>
            </a:pPr>
            <a:r>
              <a:rPr sz="1200" b="1">
                <a:solidFill>
                  <a:srgbClr val="E0E8F3"/>
                </a:solidFill>
              </a:rPr>
              <a:t>카드 · 계좌이체 · 가상계좌 · 간편결제를 각각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3578769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15adea6ae41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5F0D6-F4F5-4491-B0EB-357454CF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E6B0"/>
                </a:solidFill>
              </a:defRPr>
            </a:pPr>
            <a:r>
              <a:rPr sz="900" b="1">
                <a:solidFill>
                  <a:srgbClr val="39E6B0"/>
                </a:solidFill>
              </a:rPr>
              <a:t>CURRENT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490CD-ED6C-48D1-9610-4DD2A54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검증 가능한 영역부터 개발하고 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E8008-0710-488B-86D8-89D0E66C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SSEOBONI · PG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F6559-DAC8-4D56-9503-B866169D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72018-5B82-4BD0-95FE-3DACC9A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1CCDB"/>
                </a:solidFill>
              </a:defRPr>
            </a:pPr>
            <a:r>
              <a:rPr sz="1275" b="0">
                <a:solidFill>
                  <a:srgbClr val="C1CCDB"/>
                </a:solidFill>
              </a:rPr>
              <a:t>PG·법률·시장 검증 전에는 실제 거래 기능을 확정하지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ED0D7-0479-4EBE-B97A-EC878B39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9E6B0"/>
          </a:solidFill>
          <a:ln xmlns:a="http://schemas.openxmlformats.org/drawingml/2006/main" w="9525">
            <a:solidFill>
              <a:srgbClr val="39E6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9D61B-F00A-42DD-A7D3-0C32E0B1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54CFE-FC59-4B69-BBCE-03A4231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145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F"/>
                </a:solidFill>
              </a:defRPr>
            </a:pPr>
            <a:r>
              <a:rPr sz="1200" b="1">
                <a:solidFill>
                  <a:srgbClr val="07152F"/>
                </a:solidFill>
              </a:rPr>
              <a:t>NOW · 상품등록·검색·상세와 써보기 의향·비용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99610-7716-4C47-97FA-C0D6A4F3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1655F-6077-4333-B2F1-4E51150F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35FFE-ACD0-4D02-9983-BB23A29E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289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NOW · 판매자 WTA·구매자 WTP 검증과 행동 이벤트 수집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DA56D-A91B-454F-93D4-562C7356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1FB83-871E-47CC-B840-E617E6C5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D0A04-15C5-4BB7-BB24-3BD114D7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HOLD · 실제 결제·정산과 자동구매확정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41059-7D9C-47C0-B236-7C92326C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5C053-E6C2-4327-957C-1876D28F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0E0ED-6F6B-444D-84DF-2B3CEAF6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HOLD · 옵션비 자동 공제와 분쟁금액 자동 판정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DD3E0-A660-4A79-996C-6ED0435D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E8F3"/>
                </a:solidFill>
              </a:defRPr>
            </a:pPr>
            <a:r>
              <a:rPr sz="1200" b="1">
                <a:solidFill>
                  <a:srgbClr val="E0E8F3"/>
                </a:solidFill>
              </a:rPr>
              <a:t>Gate 2 · PG 서면답변 + 법률 + WTA/WTP + 단위경제성</a:t>
            </a:r>
          </a:p>
        </p:txBody>
      </p:sp>
    </p:spTree>
    <p:extLst>
      <p:ext uri="{BB962C8B-B14F-4D97-AF65-F5344CB8AC3E}">
        <p14:creationId xmlns:p14="http://schemas.microsoft.com/office/powerpoint/2010/main" val="2828208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9c929d01489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EE5F-56EB-411F-B196-24B65BF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E6B0"/>
                </a:solidFill>
              </a:defRPr>
            </a:pPr>
            <a:r>
              <a:rPr sz="900" b="1">
                <a:solidFill>
                  <a:srgbClr val="39E6B0"/>
                </a:solidFill>
              </a:rPr>
              <a:t>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4831D-85BB-4BAB-89D6-20CD4A02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PG사와 가능한 거래 구조를 확정합니다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43432-78D2-48B1-9F48-E072C8E9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SSEOBONI · PG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6E15F-4CE1-4D09-84C0-926CEF8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EA0BA"/>
                </a:solidFill>
              </a:defRPr>
            </a:pPr>
            <a:r>
              <a:rPr sz="750" b="1">
                <a:solidFill>
                  <a:srgbClr val="8EA0BA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83A86-6C1C-4749-91A3-638CBE2F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1CCDB"/>
                </a:solidFill>
              </a:defRPr>
            </a:pPr>
            <a:r>
              <a:rPr sz="1275" b="0">
                <a:solidFill>
                  <a:srgbClr val="C1CCDB"/>
                </a:solidFill>
              </a:rPr>
              <a:t>플랫폼·에스크로·정산 담당부서의 사전 검토를 요청드립니다.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473FC-7E05-4D50-98B2-AE9D665F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0B093-AF11-49D4-85F3-5E45FA34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5B246-7E70-4A2E-AC3C-F0BA0E44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145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 담당부서 연결  →  02 서면 가능성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4CE7B-BED7-4D73-AEFF-ADCF7F96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2B52"/>
          </a:solidFill>
          <a:ln xmlns:a="http://schemas.openxmlformats.org/drawingml/2006/main" w="9525">
            <a:solidFill>
              <a:srgbClr val="3650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0E5CD-3E14-4D8D-8F57-D7A87341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90AB8-5D48-4A21-B5DC-C6C49F7E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67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 계약·기술 미팅  →  04 테스트 범위 합의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DFEBB-CC72-4870-87A7-E6B3F87E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619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9E6B0"/>
          </a:solidFill>
          <a:ln xmlns:a="http://schemas.openxmlformats.org/drawingml/2006/main" w="9525">
            <a:solidFill>
              <a:srgbClr val="39E6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B6001-46B0-4233-B231-662DA8FD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AFC89-FC2D-4D97-A523-8F4F496F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194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F"/>
                </a:solidFill>
              </a:defRPr>
            </a:pPr>
            <a:r>
              <a:rPr sz="1200" b="1">
                <a:solidFill>
                  <a:srgbClr val="07152F"/>
                </a:solidFill>
              </a:rPr>
              <a:t>05 GO / MODIFY / 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83A85-EAA9-43CD-BC41-BBF60EC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E8F3"/>
                </a:solidFill>
              </a:defRPr>
            </a:pPr>
            <a:r>
              <a:rPr sz="1200" b="1">
                <a:solidFill>
                  <a:srgbClr val="E0E8F3"/>
                </a:solidFill>
              </a:rPr>
              <a:t>검토 요청 · 보류기간 · 부분환불 · 분할정산 · 분쟁처리 · API</a:t>
            </a:r>
          </a:p>
        </p:txBody>
      </p:sp>
    </p:spTree>
    <p:extLst>
      <p:ext uri="{BB962C8B-B14F-4D97-AF65-F5344CB8AC3E}">
        <p14:creationId xmlns:p14="http://schemas.microsoft.com/office/powerpoint/2010/main" val="1000695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2026-09-02T05:51:20.6210000Z</dcterms:created>
  <dcterms:modified xsi:type="dcterms:W3CDTF">2026-09-02T05:51:20.6210000Z</dcterms:modified>
</coreProperties>
</file>